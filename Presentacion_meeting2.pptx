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Abrimos diciendo que el trabajo tiene 4 etapas y hoy cerramos las 3 primeras. La cuarta, mirar las curvas de luz, no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se presentan las tres primeras. La cuarta queda dicha como lo que falta, no como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Oids son 9.829. Features hay para 8.419, y esas son las que entran. EB y RRL son más de la mitad.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las 20: en el notebook de datos vimos que esos vacíos dependen de cuándo entró la estrella al survey, no de su clase. WISE es un catálogo de afuera.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bosque aleatorio está entrenado solo con train y deja el período primero y el color después. Por eso el autoencoder recibe esas 7 y no las 158.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época es una pasada por las 5.893 de train. Paró porque la validación dejó de bajar. Si preguntan por qué 8 y no 2: con 2 se pierde información. Con estas 7 columnas probamos cuello 4 y cuello 8; el 8 separa un poco mejor las clases.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Señala LPV, DSCT y RRL. Di que EB, en verde, sigue mezclada. El color es la clase real, puesta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GMM numera grupos 0 a 4. No sabe que existen CEP o RRL. En la tabla siguiente: RRL 256 de 398 en el grupo 0, DSCT 72 de 80 en el 4, LPV 113 de 206 en el 2. EB se parte entre el grupo 4 y el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RRL: 256 de 398 en el grupo 0. DSCT: 72 de 80 en el 4. LPV: 113 de 206 en el 2. EB se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diferencia con el GMM: la etiqueta entra solo al entrenar. El puntaje de anomalía del paper es la distancia al centro más cercano. Ese AUROC, dejando una clase afuera, todavía no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 la diagonal. Destaca que DSCT pasó de 0 a 53 de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es la respuesta si preguntan por qué no usamos las 158. No es el dibujo: sube el acuerdo con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estas cuatro frases. Si preguntan algo más fino, volver al número del test o decir que esa parte no está hecha.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8FC4D4"/>
                </a:solidFill>
                <a:latin typeface="Calibri"/>
              </a:rPr>
              <a:t>Tres pasos para agrupar</a:t>
            </a:r>
          </a:p>
          <a:p>
            <a:pPr/>
            <a:r>
              <a:rPr sz="3800" b="1">
                <a:solidFill>
                  <a:srgbClr val="FFFFFF"/>
                </a:solidFill>
                <a:latin typeface="Calibri"/>
              </a:rPr>
              <a:t>estrellas periódicas de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FFFFFF"/>
                </a:solidFill>
                <a:latin typeface="Calibri"/>
              </a:rPr>
              <a:t>Etapa 2: autoencoder      ·      Etapa 3: GMM y MCDSVDD</a:t>
            </a:r>
          </a:p>
          <a:p>
            <a:pPr/>
            <a:r>
              <a:rPr sz="1600" b="0">
                <a:solidFill>
                  <a:srgbClr val="B7CBD6"/>
                </a:solidFill>
                <a:latin typeface="Calibri"/>
              </a:rPr>
              <a:t>Grupo 5B    ·    EL4106 Inteligencia Computacional</a:t>
            </a:r>
          </a:p>
          <a:p>
            <a:pPr/>
            <a:r>
              <a:rPr sz="1600" b="0">
                <a:solidFill>
                  <a:srgbClr val="B7CBD6"/>
                </a:solidFill>
                <a:latin typeface="Calibri"/>
              </a:rPr>
              <a:t>Tutor: Christian Díaz Guerra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2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Las 4 etapas del trabajo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800" b="1">
                <a:solidFill>
                  <a:srgbClr val="1C6B8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80744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143242"/>
                </a:solidFill>
                <a:latin typeface="Calibri"/>
              </a:rPr>
              <a:t>Explorar</a:t>
            </a:r>
          </a:p>
          <a:p>
            <a:pPr/>
            <a:r>
              <a:rPr sz="1600" b="0">
                <a:solidFill>
                  <a:srgbClr val="1C242B"/>
                </a:solidFill>
                <a:latin typeface="Calibri"/>
              </a:rPr>
              <a:t>El notebook de datos. UMAP de las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5544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C6B84"/>
                </a:solidFill>
                <a:latin typeface="Calibri"/>
              </a:rPr>
              <a:t>Hecho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80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800" b="1">
                <a:solidFill>
                  <a:srgbClr val="1C6B84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15184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143242"/>
                </a:solidFill>
                <a:latin typeface="Calibri"/>
              </a:rPr>
              <a:t>Comprimir</a:t>
            </a:r>
          </a:p>
          <a:p>
            <a:pPr/>
            <a:r>
              <a:rPr sz="1600" b="0">
                <a:solidFill>
                  <a:srgbClr val="1C242B"/>
                </a:solidFill>
                <a:latin typeface="Calibri"/>
              </a:rPr>
              <a:t>Autoencoder. Período y color pasan a un resumen de 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78892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C6B84"/>
                </a:solidFill>
                <a:latin typeface="Calibri"/>
              </a:rPr>
              <a:t>Hecho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03320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59352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800" b="1">
                <a:solidFill>
                  <a:srgbClr val="1C6B84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49624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143242"/>
                </a:solidFill>
                <a:latin typeface="Calibri"/>
              </a:rPr>
              <a:t>Agrupar</a:t>
            </a:r>
          </a:p>
          <a:p>
            <a:pPr/>
            <a:r>
              <a:rPr sz="1600" b="0">
                <a:solidFill>
                  <a:srgbClr val="1C242B"/>
                </a:solidFill>
                <a:latin typeface="Calibri"/>
              </a:rPr>
              <a:t>GMM sin la clase, y MCDSVDD con un centro por clase.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233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1C6B84"/>
                </a:solidFill>
                <a:latin typeface="Calibri"/>
              </a:rPr>
              <a:t>Hecho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937760"/>
            <a:ext cx="11338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93792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800" b="1">
                <a:solidFill>
                  <a:srgbClr val="5E6A7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84064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143242"/>
                </a:solidFill>
                <a:latin typeface="Calibri"/>
              </a:rPr>
              <a:t>Mirar curvas</a:t>
            </a:r>
          </a:p>
          <a:p>
            <a:pPr/>
            <a:r>
              <a:rPr sz="1600" b="0">
                <a:solidFill>
                  <a:srgbClr val="1C242B"/>
                </a:solidFill>
                <a:latin typeface="Calibri"/>
              </a:rPr>
              <a:t>Prototipos y outliers doblando la curva de luz.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578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5E6A72"/>
                </a:solidFill>
                <a:latin typeface="Calibri"/>
              </a:rPr>
              <a:t>Después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3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Cada fila es una estrella. El catálogo trae la clase; el modelo de agrupar no la usa.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8.419 estrellas, cinco clases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C6B84"/>
                </a:solidFill>
                <a:latin typeface="Calibri"/>
              </a:rPr>
              <a:t>CEP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18488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43242"/>
                </a:solidFill>
                <a:latin typeface="Calibri"/>
              </a:rPr>
              <a:t>1.172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18488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1C242B"/>
                </a:solidFill>
                <a:latin typeface="Calibri"/>
              </a:rPr>
              <a:t>Cefeidas. Período de días.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50008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6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C6B84"/>
                </a:solidFill>
                <a:latin typeface="Calibri"/>
              </a:rPr>
              <a:t>DSCT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51176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43242"/>
                </a:solidFill>
                <a:latin typeface="Calibri"/>
              </a:rPr>
              <a:t>532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51176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1C242B"/>
                </a:solidFill>
                <a:latin typeface="Calibri"/>
              </a:rPr>
              <a:t>Delta Scuti. Período de horas. La clase más chica.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82696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83864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C6B84"/>
                </a:solidFill>
                <a:latin typeface="Calibri"/>
              </a:rPr>
              <a:t>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83864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43242"/>
                </a:solidFill>
                <a:latin typeface="Calibri"/>
              </a:rPr>
              <a:t>2.689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83864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1C242B"/>
                </a:solidFill>
                <a:latin typeface="Calibri"/>
              </a:rPr>
              <a:t>Binarias eclipsantes. La clase más grande.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15384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1655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C6B84"/>
                </a:solidFill>
                <a:latin typeface="Calibri"/>
              </a:rPr>
              <a:t>LPV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16552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43242"/>
                </a:solidFill>
                <a:latin typeface="Calibri"/>
              </a:rPr>
              <a:t>1.374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416552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1C242B"/>
                </a:solidFill>
                <a:latin typeface="Calibri"/>
              </a:rPr>
              <a:t>Período largo, de meses.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148072"/>
            <a:ext cx="11338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C6B84"/>
                </a:solidFill>
                <a:latin typeface="Calibri"/>
              </a:rPr>
              <a:t>RRL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3492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200" b="1">
                <a:solidFill>
                  <a:srgbClr val="143242"/>
                </a:solidFill>
                <a:latin typeface="Calibri"/>
              </a:rPr>
              <a:t>2.652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3492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1C242B"/>
                </a:solidFill>
                <a:latin typeface="Calibri"/>
              </a:rPr>
              <a:t>RR Lyrae. Período de menos de un día.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4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El corte y las 7 columnas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7033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143242"/>
                </a:solidFill>
                <a:latin typeface="Calibri"/>
              </a:rPr>
              <a:t>5.893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C6B84"/>
                </a:solidFill>
                <a:latin typeface="Calibri"/>
              </a:rPr>
              <a:t>Train</a:t>
            </a:r>
          </a:p>
          <a:p>
            <a:pPr/>
            <a:r>
              <a:rPr sz="1500" b="0">
                <a:solidFill>
                  <a:srgbClr val="1C242B"/>
                </a:solidFill>
                <a:latin typeface="Calibri"/>
              </a:rPr>
              <a:t>Aquí se aprende la escala y el modelo.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033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143242"/>
                </a:solidFill>
                <a:latin typeface="Calibri"/>
              </a:rPr>
              <a:t>1.263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C6B84"/>
                </a:solidFill>
                <a:latin typeface="Calibri"/>
              </a:rPr>
              <a:t>Validación</a:t>
            </a:r>
          </a:p>
          <a:p>
            <a:pPr/>
            <a:r>
              <a:rPr sz="1500" b="0">
                <a:solidFill>
                  <a:srgbClr val="1C242B"/>
                </a:solidFill>
                <a:latin typeface="Calibri"/>
              </a:rPr>
              <a:t>Aquí se decide cuándo parar.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280160"/>
            <a:ext cx="37033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143242"/>
                </a:solidFill>
                <a:latin typeface="Calibri"/>
              </a:rPr>
              <a:t>1.263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C6B84"/>
                </a:solidFill>
                <a:latin typeface="Calibri"/>
              </a:rPr>
              <a:t>Test</a:t>
            </a:r>
          </a:p>
          <a:p>
            <a:pPr/>
            <a:r>
              <a:rPr sz="1500" b="0">
                <a:solidFill>
                  <a:srgbClr val="1C242B"/>
                </a:solidFill>
                <a:latin typeface="Calibri"/>
              </a:rPr>
              <a:t>Aquí se miden todos los números.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5204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70 / 15 / 15, estratificado, semilla 42. Mediana y escala solo con train.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Se botan 20 columnas que no son de la estrella: no-detecciones previas y WISE.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Entran 7: tres períodos y cuatro colores g−r. El resto tapaba esa señal.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5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El cuello mezclaba las clases. Cambiar el dibujo no lo arreglaba.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Por qué no las 158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32588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158 columnas: silhouette −0,20.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GMM con esas 158: ARI 0,10.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Cuello de 16: no mejora.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n_neighbors del UMAP: solo mueve el gráfico.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Período y color g−r sí separan.</a:t>
            </a:r>
          </a:p>
        </p:txBody>
      </p:sp>
      <p:pic>
        <p:nvPicPr>
          <p:cNvPr id="8" name="Picture 7" descr="importancia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6235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6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No clasifica. Aprende un resumen de 8 números.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Punto 2. El autoencoder comprime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385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143242"/>
                </a:solidFill>
                <a:latin typeface="Calibri"/>
              </a:rPr>
              <a:t>7  →  512  →  256  →  128  →  8  →  128  →  256  →  512  →  7</a:t>
            </a:r>
          </a:p>
          <a:p>
            <a:pPr/>
            <a:r>
              <a:rPr sz="1600" b="0">
                <a:solidFill>
                  <a:srgbClr val="5E6A72"/>
                </a:solidFill>
                <a:latin typeface="Calibri"/>
              </a:rPr>
              <a:t>MLP como AnomalyALeRCE. El 8 del medio es el resumen. La clase no entra aquí.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9260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>
                <a:solidFill>
                  <a:srgbClr val="1C242B"/>
                </a:solidFill>
                <a:latin typeface="Calibri"/>
              </a:rPr>
              <a:t>Train ajusta los pesos. Validación dice cuándo parar: cortó en la época 14.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1C242B"/>
                </a:solidFill>
                <a:latin typeface="Calibri"/>
              </a:rPr>
              <a:t>El error es el MSE de reconstrucción. En el test quedó en 0,017.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1C242B"/>
                </a:solidFill>
                <a:latin typeface="Calibri"/>
              </a:rPr>
              <a:t>El GMM y el MCDSVDD usan esos 8 números. El UMAP solo dibuja el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7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Punto 2. UMAP solo para mirar. No entra al GMM.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El resumen, visto en el test</a:t>
            </a:r>
          </a:p>
        </p:txBody>
      </p:sp>
      <p:pic>
        <p:nvPicPr>
          <p:cNvPr id="7" name="Picture 6" descr="ae_latente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34440"/>
            <a:ext cx="82296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10819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5E6A72"/>
                </a:solidFill>
                <a:latin typeface="Calibri"/>
              </a:rPr>
              <a:t>LPV a la derecha. DSCT arriba. RRL a la izquierda. EB queda en el medio.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8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Cinco campanas sobre los 8 números. No ve la clase. Métricas en el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Punto 3, primera parte. GMM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2514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43242"/>
                </a:solidFill>
                <a:latin typeface="Calibri"/>
              </a:rPr>
              <a:t>0,27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40280"/>
            <a:ext cx="2459736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6B84"/>
                </a:solidFill>
                <a:latin typeface="Calibri"/>
              </a:rPr>
              <a:t>ARI</a:t>
            </a:r>
          </a:p>
          <a:p>
            <a:pPr algn="ctr"/>
            <a:r>
              <a:rPr sz="1300" b="0">
                <a:solidFill>
                  <a:srgbClr val="1C242B"/>
                </a:solidFill>
                <a:latin typeface="Calibri"/>
              </a:rPr>
              <a:t>0 es azar. 1 es acertar.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36192"/>
            <a:ext cx="2514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43242"/>
                </a:solidFill>
                <a:latin typeface="Calibri"/>
              </a:rPr>
              <a:t>0,32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40280"/>
            <a:ext cx="2459736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6B84"/>
                </a:solidFill>
                <a:latin typeface="Calibri"/>
              </a:rPr>
              <a:t>NMI</a:t>
            </a:r>
          </a:p>
          <a:p>
            <a:pPr algn="ctr"/>
            <a:r>
              <a:rPr sz="1300" b="0">
                <a:solidFill>
                  <a:srgbClr val="1C242B"/>
                </a:solidFill>
                <a:latin typeface="Calibri"/>
              </a:rPr>
              <a:t>Acuerdo, en otra escala.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514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43242"/>
                </a:solidFill>
                <a:latin typeface="Calibri"/>
              </a:rPr>
              <a:t>0,12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40280"/>
            <a:ext cx="2459736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6B84"/>
                </a:solidFill>
                <a:latin typeface="Calibri"/>
              </a:rPr>
              <a:t>Silhouette</a:t>
            </a:r>
          </a:p>
          <a:p>
            <a:pPr algn="ctr"/>
            <a:r>
              <a:rPr sz="1300" b="0">
                <a:solidFill>
                  <a:srgbClr val="1C242B"/>
                </a:solidFill>
                <a:latin typeface="Calibri"/>
              </a:rPr>
              <a:t>Antes, con 158, era −0,20.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37160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36192"/>
            <a:ext cx="2514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43242"/>
                </a:solidFill>
                <a:latin typeface="Calibri"/>
              </a:rPr>
              <a:t>1,97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240280"/>
            <a:ext cx="2459736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6B84"/>
                </a:solidFill>
                <a:latin typeface="Calibri"/>
              </a:rPr>
              <a:t>Davies-Bouldin</a:t>
            </a:r>
          </a:p>
          <a:p>
            <a:pPr algn="ctr"/>
            <a:r>
              <a:rPr sz="1300" b="0">
                <a:solidFill>
                  <a:srgbClr val="1C242B"/>
                </a:solidFill>
                <a:latin typeface="Calibri"/>
              </a:rPr>
              <a:t>Más bajo es mejor.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9319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Mejor que el ARI 0,10 de las 158 columnas, y lejos de separar las cinco clases.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2B"/>
                </a:solidFill>
                <a:latin typeface="Calibri"/>
              </a:rPr>
              <a:t>RRL y DSCT caen cada una en un grupo. LPV se concentra. EB queda repartida.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9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Punto 3. Filas: clase. Columnas: grupo 0 a 4, sin nombre.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GMM contra la clase real</a:t>
            </a:r>
          </a:p>
        </p:txBody>
      </p:sp>
      <p:pic>
        <p:nvPicPr>
          <p:cNvPr id="7" name="Picture 6" descr="gmm_clase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34440"/>
            <a:ext cx="82296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10819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5E6A72"/>
                </a:solidFill>
                <a:latin typeface="Calibri"/>
              </a:rPr>
              <a:t>RRL y DSCT tienen grupo. EB 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10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Pérez-Carrasco y otros, 2023. Misma red. Un centro por clase.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Punto 3, segunda parte. MCDSVDD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Parte de los pesos del autoencoder.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En train sí usa la clase: cada estrella se acerca al centro de la suya.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En el test no le pasamos la clase. Queda en el centro más cercano.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ARI 0,56.   NMI 0,56.   Silhouette de las clases 0,35.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11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Punto 3. La diagonal es la estrella que cayó en el centro de su clase.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MCDSVDD contra la clase real</a:t>
            </a:r>
          </a:p>
        </p:txBody>
      </p:sp>
      <p:pic>
        <p:nvPicPr>
          <p:cNvPr id="7" name="Picture 6" descr="mcdsvdd_clase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34440"/>
            <a:ext cx="82296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10819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5E6A72"/>
                </a:solidFill>
                <a:latin typeface="Calibri"/>
              </a:rPr>
              <a:t>CEP 139/176. DSCT 53/80. EB 327/403. LPV 167/206. RRL 330/398.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12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 b="1">
                <a:solidFill>
                  <a:srgbClr val="1C6B84"/>
                </a:solidFill>
                <a:latin typeface="Calibri"/>
              </a:rPr>
              <a:t>Mismo corte, misma semilla, mismo cuello de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3891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Qué cambió al dejar período y color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1560" y="1417320"/>
          <a:ext cx="10058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926080"/>
                <a:gridCol w="2926080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432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158 columnas</a:t>
                      </a:r>
                    </a:p>
                  </a:txBody>
                  <a:tcPr anchor="ctr">
                    <a:solidFill>
                      <a:srgbClr val="1432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Período y color</a:t>
                      </a:r>
                    </a:p>
                  </a:txBody>
                  <a:tcPr anchor="ctr">
                    <a:solidFill>
                      <a:srgbClr val="14324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Silhouette de las clases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−0,20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C242B"/>
                          </a:solidFill>
                          <a:latin typeface="Calibri"/>
                        </a:rPr>
                        <a:t>0,12</a:t>
                      </a:r>
                    </a:p>
                  </a:txBody>
                  <a:tcPr anchor="ctr">
                    <a:solidFill>
                      <a:srgbClr val="E4F0E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ARI del GMM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C242B"/>
                          </a:solidFill>
                          <a:latin typeface="Calibri"/>
                        </a:rPr>
                        <a:t>0,27</a:t>
                      </a:r>
                    </a:p>
                  </a:txBody>
                  <a:tcPr anchor="ctr">
                    <a:solidFill>
                      <a:srgbClr val="E4F0E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ARI del MCDSVDD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0,33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C242B"/>
                          </a:solidFill>
                          <a:latin typeface="Calibri"/>
                        </a:rPr>
                        <a:t>0,56</a:t>
                      </a:r>
                    </a:p>
                  </a:txBody>
                  <a:tcPr anchor="ctr">
                    <a:solidFill>
                      <a:srgbClr val="E4F0E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DSCT en su centro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C242B"/>
                          </a:solidFill>
                          <a:latin typeface="Calibri"/>
                        </a:rPr>
                        <a:t>0 de 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C242B"/>
                          </a:solidFill>
                          <a:latin typeface="Calibri"/>
                        </a:rPr>
                        <a:t>53 de 80</a:t>
                      </a:r>
                    </a:p>
                  </a:txBody>
                  <a:tcPr anchor="ctr">
                    <a:solidFill>
                      <a:srgbClr val="E4F0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1C242B"/>
                </a:solidFill>
                <a:latin typeface="Calibri"/>
              </a:rPr>
              <a:t>DSCT era la que desaparecía. Con período y color, su centro sí la recoge.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0">
                <a:solidFill>
                  <a:srgbClr val="5E6A72"/>
                </a:solidFill>
                <a:latin typeface="Calibri"/>
              </a:rPr>
              <a:t>Grupo 5B   ·   EL4106   ·   ALeRCE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E6A72"/>
                </a:solidFill>
                <a:latin typeface="Calibri"/>
              </a:rPr>
              <a:t>13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000" b="1">
                <a:solidFill>
                  <a:srgbClr val="143242"/>
                </a:solidFill>
                <a:latin typeface="Calibri"/>
              </a:rPr>
              <a:t>Lo que se puede 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173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El autoencoder deja un resumen donde LPV, DSCT y RRL se corren.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El GMM, sin ver la clase, recupera parte de eso. ARI 0,27. EB sigue mezclada.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El MCDSVDD, que sí ve la clase en train, sube a ARI 0,56.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C242B"/>
                </a:solidFill>
                <a:latin typeface="Calibri"/>
              </a:rPr>
              <a:t>Falta la etapa 4: curvas de luz de prototipos y de outliers.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